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68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endeley.com/datasets/p5w98dvbbk/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a4RTIvey0o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Maternal Health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Risk Prediction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29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ECAE1"/>
                </a:solidFill>
              </a:rPr>
              <a:t>Using Machine Learning to Identify At-Risk Pregnancies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3566160"/>
            <a:ext cx="7772400" cy="36576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37660"/>
            <a:ext cx="3657600" cy="480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3CC"/>
                </a:solidFill>
              </a:rPr>
              <a:t>April 30,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7A9B"/>
                </a:solidFill>
              </a:rPr>
              <a:t>Introduction  ·  Problem  ·  Solution  ·  Methodology  ·  Dataset  ·  Results  ·  Limitations  ·  Conclusions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5067B-FD5E-4ADD-7288-E9427257C59D}"/>
              </a:ext>
            </a:extLst>
          </p:cNvPr>
          <p:cNvSpPr txBox="1"/>
          <p:nvPr/>
        </p:nvSpPr>
        <p:spPr>
          <a:xfrm>
            <a:off x="411482" y="388262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FB3CC"/>
                </a:solidFill>
              </a:rPr>
              <a:t>Presented By: Mariam Wambui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7C8C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Background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5029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822960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128016" cy="10515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89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Global Burden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72821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Maternal mortality remains a critical public health challenge worldwide. Many deaths are preventable when risk is identified early and managed proactively.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822960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87168"/>
            <a:ext cx="128016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786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The Opportunity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91693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Structured clinical data — vitals, lab results, medical history — contains strong predictive signals that traditional triage may overlook.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75888"/>
            <a:ext cx="822960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675888"/>
            <a:ext cx="128016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673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Our Approach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10565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Apply supervised machine learning to a labelled maternal health dataset to build a binary risk classifier, then package results in an interactive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7C8C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What Problem Are We Solving?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5029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8229600" cy="1005840"/>
          </a:xfrm>
          <a:prstGeom prst="rect">
            <a:avLst/>
          </a:prstGeom>
          <a:solidFill>
            <a:srgbClr val="E6F4F7"/>
          </a:solidFill>
          <a:ln w="12700">
            <a:solidFill>
              <a:srgbClr val="0D7C8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128016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C"/>
                </a:solidFill>
              </a:rPr>
              <a:t>Core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67335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Maternal complications can develop rapidly and are not always apparent from a single vital sign. Clinicians need a data-driven tool to flag high-risk patients early.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14600"/>
            <a:ext cx="2651760" cy="82296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6700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Multi-factor Risk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072384"/>
            <a:ext cx="23317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No single indicator is sufficient. Age, BP, blood sugar, BMI, and history must all be considered together.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251460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2514600"/>
            <a:ext cx="2651760" cy="82296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6700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Uneven Consequences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072384"/>
            <a:ext cx="23317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Missing a high-risk patient (false negative) is far more costly than an unnecessary follow-up (false positive).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251460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2514600"/>
            <a:ext cx="2651760" cy="822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6700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Accessibility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3072384"/>
            <a:ext cx="23317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Prediction tools must be usable by non-technical healthcare staff, not just data scientists.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7C8C"/>
                </a:solidFill>
              </a:rPr>
              <a:t>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Our Proposed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5029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A machine learning pipeline that classifies patients as High Risk or Low Risk — with an interactive dashboard that presents results in plain clinical language.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69080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48840"/>
            <a:ext cx="406908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2768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C8C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7008" y="227685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Data-Driven Classification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71576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Two ML models trained on 1,205 patient records to produce a binary risk score.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148840"/>
            <a:ext cx="4069080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148840"/>
            <a:ext cx="406908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22768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50408" y="227685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Multi-Feature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271576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11 clinical inputs — vitals, lab values, and medical history — considered simultaneously.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4069080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406908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7398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C8C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373989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Explainable 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417880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Risk score, identified risk factors, and clinical summary generated for each prediction.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611880"/>
            <a:ext cx="4069080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611880"/>
            <a:ext cx="406908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7398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50408" y="373989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Interactive Interface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65192" y="417880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Gradio dashboard lets staff enter patient data and receive immediate risk assessment.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7C8C"/>
                </a:solidFill>
              </a:rPr>
              <a:t>METHODOLOGY / SYSTEM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Pipeline &amp;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5029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1536192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6304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95681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FF0"/>
                </a:solidFill>
              </a:rPr>
              <a:t>1,205 records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FF0"/>
                </a:solidFill>
              </a:rPr>
              <a:t>11 features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83664" y="1911096"/>
            <a:ext cx="146304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1298448"/>
            <a:ext cx="1536192" cy="12801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46304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7400" y="195681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FF0"/>
                </a:solidFill>
              </a:rPr>
              <a:t>Clean · Impute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FF0"/>
                </a:solidFill>
              </a:rPr>
              <a:t>Encode · Scale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21024" y="1911096"/>
            <a:ext cx="146304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1298448"/>
            <a:ext cx="1536192" cy="1280160"/>
          </a:xfrm>
          <a:prstGeom prst="rect">
            <a:avLst/>
          </a:prstGeom>
          <a:solidFill>
            <a:srgbClr val="0A6070"/>
          </a:solidFill>
          <a:ln w="12700">
            <a:solidFill>
              <a:srgbClr val="0A607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46304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Training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94760" y="195681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FF0"/>
                </a:solidFill>
              </a:rPr>
              <a:t>Random Forest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FF0"/>
                </a:solidFill>
              </a:rPr>
              <a:t>Neural Network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58384" y="1911096"/>
            <a:ext cx="146304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1298448"/>
            <a:ext cx="1536192" cy="1280160"/>
          </a:xfrm>
          <a:prstGeom prst="rect">
            <a:avLst/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146304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195681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FF0"/>
                </a:solidFill>
              </a:rPr>
              <a:t>Accuracy · AUC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FF0"/>
                </a:solidFill>
              </a:rPr>
              <a:t>F1 · Recall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95744" y="1911096"/>
            <a:ext cx="146304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1298448"/>
            <a:ext cx="1536192" cy="12801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480" y="146304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195681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FF0"/>
                </a:solidFill>
              </a:rPr>
              <a:t>Gradio UI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DFF0"/>
                </a:solidFill>
              </a:rPr>
              <a:t>Risk Output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3A272BA-6FC9-7DB1-AF40-2340E45DE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2718196"/>
            <a:ext cx="3977850" cy="238995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E791C6A-F7F1-1D5D-67C8-06161E2B8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24" y="2718196"/>
            <a:ext cx="4156842" cy="23899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7C8C"/>
                </a:solidFill>
              </a:rPr>
              <a:t>DATASET DESCRIPTION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B3A6B"/>
                </a:solidFill>
              </a:rPr>
              <a:t>About the Data (</a:t>
            </a:r>
            <a:r>
              <a:rPr lang="en-US" b="1" dirty="0">
                <a:solidFill>
                  <a:srgbClr val="1B3A6B"/>
                </a:solidFill>
                <a:hlinkClick r:id="rId3"/>
              </a:rPr>
              <a:t>https://data.mendeley.com/datasets/p5w98dvbbk/1</a:t>
            </a:r>
            <a:r>
              <a:rPr lang="en-US" sz="3000" b="1" dirty="0">
                <a:solidFill>
                  <a:srgbClr val="1B3A6B"/>
                </a:solidFill>
              </a:rPr>
              <a:t>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5029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2606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260604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3A6B"/>
                </a:solidFill>
              </a:rPr>
              <a:t>1,205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Patient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98448"/>
            <a:ext cx="2606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98448"/>
            <a:ext cx="2606040" cy="914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4475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D7C8C"/>
                </a:solidFill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42900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Risk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98448"/>
            <a:ext cx="2606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98448"/>
            <a:ext cx="26060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44475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45309"/>
                </a:solidFill>
              </a:rPr>
              <a:t>11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6364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Clinical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8229600" cy="21031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27614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Features &amp; Target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209544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14553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Age (years)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209544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14553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Systolic BP (mmHg)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465576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4015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Diastolic BP (mmHg)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465576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4015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Blood Sugar (mmol/L)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721608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65760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Body Temperature (°F)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721608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65760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BMI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3977640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9136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Previous Complications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3977640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9136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Preexisting Diabetes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4233672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16966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Gestational Diabetes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4233672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416966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Mental Health Flag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4489704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4256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Heart Rate (bpm)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00600" y="4489704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4256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Target: Risk Level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7C8C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Random Forest —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5029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1536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1536192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173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C8C"/>
                </a:solidFill>
              </a:rPr>
              <a:t>99.15%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Accuracy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21408" y="1298448"/>
            <a:ext cx="1536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21408" y="1298448"/>
            <a:ext cx="1536192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4173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</a:rPr>
              <a:t>98.94%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94560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Precision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85616" y="1298448"/>
            <a:ext cx="1536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85616" y="1298448"/>
            <a:ext cx="1536192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14173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</a:rPr>
              <a:t>98.94%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58768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Recall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49824" y="1298448"/>
            <a:ext cx="1536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9824" y="1298448"/>
            <a:ext cx="1536192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14173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</a:rPr>
              <a:t>98.94%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22976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F1 Score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14032" y="1298448"/>
            <a:ext cx="1536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14032" y="1298448"/>
            <a:ext cx="1536192" cy="64008"/>
          </a:xfrm>
          <a:prstGeom prst="rect">
            <a:avLst/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14173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7A48"/>
                </a:solidFill>
              </a:rPr>
              <a:t>99.91%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87184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ROC-AUC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26974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Top Predictive Features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74920" y="27614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Confusion matrix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01768" y="316382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61888" y="3163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 Low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269480" y="3163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 High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01768" y="393192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Act High</a:t>
            </a:r>
            <a:endParaRPr lang="en-US" sz="85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DADF0470-1D76-50F5-DD3F-6DC976226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99" y="3017520"/>
            <a:ext cx="3444949" cy="2061972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54BACEB5-E1AC-4FB2-1379-269E81395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175" y="3008376"/>
            <a:ext cx="4363897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7C8C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Neural Network —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5029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1536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1536192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173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C8C"/>
                </a:solidFill>
              </a:rPr>
              <a:t>97.89%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Accuracy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21408" y="1298448"/>
            <a:ext cx="1536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21408" y="1298448"/>
            <a:ext cx="1536192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4173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</a:rPr>
              <a:t>97.85%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94560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Precision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85616" y="1298448"/>
            <a:ext cx="1536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85616" y="1298448"/>
            <a:ext cx="1536192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14173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</a:rPr>
              <a:t>96.81%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58768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Recall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49824" y="1298448"/>
            <a:ext cx="1536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9824" y="1298448"/>
            <a:ext cx="1536192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14173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</a:rPr>
              <a:t>97.26%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22976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F1 Score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14032" y="1298448"/>
            <a:ext cx="1536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14032" y="1298448"/>
            <a:ext cx="1536192" cy="64008"/>
          </a:xfrm>
          <a:prstGeom prst="rect">
            <a:avLst/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141732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7A48"/>
                </a:solidFill>
              </a:rPr>
              <a:t>99.90%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87184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ROC-AUC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26974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Model Architecture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" y="321868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Keras Multilayer Perceptron (MLP)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" y="3566160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Dense layers with Batch Normalisation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" y="391363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Dropout regularisation to reduce overfitting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" y="4261104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169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Early stopping based on validation loss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" y="460857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5171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Trained on same 80/20 stratified split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2697480"/>
            <a:ext cx="3703320" cy="2148840"/>
          </a:xfrm>
          <a:prstGeom prst="rect">
            <a:avLst/>
          </a:prstGeom>
          <a:solidFill>
            <a:srgbClr val="E6F4F7"/>
          </a:solidFill>
          <a:ln w="12700">
            <a:solidFill>
              <a:srgbClr val="0D7C8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74920" y="27889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Near-Perfect Discrimination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74920" y="321868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7C8C"/>
                </a:solidFill>
              </a:rPr>
              <a:t>ROC-AUC: 99.90%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074920" y="374904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 score above 0.99 indicates the model can almost perfectly distinguish high-risk from low-risk patients across all classification thresholds.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7C8C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Head-to-Head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5029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201168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624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298448"/>
            <a:ext cx="2468880" cy="38404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362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298448"/>
            <a:ext cx="2468880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362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Neural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43800" y="1298448"/>
            <a:ext cx="11430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13624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Winner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682496"/>
            <a:ext cx="20116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7465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1682496"/>
            <a:ext cx="2468880" cy="402336"/>
          </a:xfrm>
          <a:prstGeom prst="rect">
            <a:avLst/>
          </a:prstGeom>
          <a:solidFill>
            <a:srgbClr val="E6F4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746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C8C"/>
                </a:solidFill>
              </a:rPr>
              <a:t>99.15%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1682496"/>
            <a:ext cx="2468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746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97.89%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682496"/>
            <a:ext cx="11430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7465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7C8C"/>
                </a:solidFill>
              </a:rPr>
              <a:t>RF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14600" y="1682496"/>
            <a:ext cx="54864" cy="402336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121408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1854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Precision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2121408"/>
            <a:ext cx="2468880" cy="402336"/>
          </a:xfrm>
          <a:prstGeom prst="rect">
            <a:avLst/>
          </a:prstGeom>
          <a:solidFill>
            <a:srgbClr val="E6F4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185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C8C"/>
                </a:solidFill>
              </a:rPr>
              <a:t>98.94%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121408"/>
            <a:ext cx="2468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185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97.85%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43800" y="2121408"/>
            <a:ext cx="1143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2185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7C8C"/>
                </a:solidFill>
              </a:rPr>
              <a:t>RF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14600" y="2121408"/>
            <a:ext cx="54864" cy="402336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560320"/>
            <a:ext cx="20116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624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Recall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14600" y="2560320"/>
            <a:ext cx="2468880" cy="402336"/>
          </a:xfrm>
          <a:prstGeom prst="rect">
            <a:avLst/>
          </a:prstGeom>
          <a:solidFill>
            <a:srgbClr val="E6F4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2624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C8C"/>
                </a:solidFill>
              </a:rPr>
              <a:t>98.94%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2560320"/>
            <a:ext cx="2468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2624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96.81%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43800" y="2560320"/>
            <a:ext cx="11430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2624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7C8C"/>
                </a:solidFill>
              </a:rPr>
              <a:t>RF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14600" y="2560320"/>
            <a:ext cx="54864" cy="402336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2999232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063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F1 Score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14600" y="2999232"/>
            <a:ext cx="2468880" cy="402336"/>
          </a:xfrm>
          <a:prstGeom prst="rect">
            <a:avLst/>
          </a:prstGeom>
          <a:solidFill>
            <a:srgbClr val="E6F4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C8C"/>
                </a:solidFill>
              </a:rPr>
              <a:t>98.94%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0" y="2999232"/>
            <a:ext cx="2468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97.26%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43800" y="2999232"/>
            <a:ext cx="1143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7C8C"/>
                </a:solidFill>
              </a:rPr>
              <a:t>RF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514600" y="2999232"/>
            <a:ext cx="54864" cy="402336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438144"/>
            <a:ext cx="20116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502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ROC-AUC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514600" y="3438144"/>
            <a:ext cx="2468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06040" y="3502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99.91%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029200" y="3438144"/>
            <a:ext cx="2468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0" y="3502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99.90%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543800" y="3438144"/>
            <a:ext cx="11430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35240" y="3502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≈ Tie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3913632"/>
            <a:ext cx="8229600" cy="868680"/>
          </a:xfrm>
          <a:prstGeom prst="rect">
            <a:avLst/>
          </a:prstGeom>
          <a:solidFill>
            <a:srgbClr val="E6F4F7"/>
          </a:solidFill>
          <a:ln w="12700">
            <a:solidFill>
              <a:srgbClr val="0D7C8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58368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C8C"/>
                </a:solidFill>
              </a:rPr>
              <a:t>Key Takeaway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58368" y="426110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Random Forest outperforms Neural Network on every metric. Both models achieve near-perfect ROC-AUC (&gt;99.9%), confirming strong discriminative ability. The gap is most significant in Recall (98.94% vs 96.81%) — critical in healthcare where missing a high-risk case carries the highest cost.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7C8C"/>
                </a:solidFill>
              </a:rPr>
              <a:t>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Why We Chose Random Forest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5029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8229600" cy="749808"/>
          </a:xfrm>
          <a:prstGeom prst="rect">
            <a:avLst/>
          </a:prstGeom>
          <a:solidFill>
            <a:srgbClr val="E6F4F7"/>
          </a:solidFill>
          <a:ln w="12700">
            <a:solidFill>
              <a:srgbClr val="0D7C8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128016" cy="7498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3560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C8C"/>
                </a:solidFill>
              </a:rPr>
              <a:t>✓  Selected Model:  Random Forest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40690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12848"/>
            <a:ext cx="128016" cy="84124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Higher Accuracy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25968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99.15% vs 97.89% — a meaningful difference in a clinical triage context.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2212848"/>
            <a:ext cx="40690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2212848"/>
            <a:ext cx="128016" cy="84124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3208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Superior Recall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93208" y="25968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98.94% vs 96.81%. In maternal health, failing to flag a high-risk patient is the costliest error.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40690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54680"/>
            <a:ext cx="128016" cy="8412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Better F1 Score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35387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98.94% vs 97.26%, confirming stronger balance between precision and recall.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154680"/>
            <a:ext cx="40690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154680"/>
            <a:ext cx="128016" cy="84124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Interpretability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93208" y="35387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Feature importance scores show exactly which clinical factors drive each prediction — essential for clinical trust.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40690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96512"/>
            <a:ext cx="128016" cy="8412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169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No Black Box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9808" y="44805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Neural networks are harder to explain to clinicians. Random Forest predictions are traceable to specific features.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4096512"/>
            <a:ext cx="40690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4096512"/>
            <a:ext cx="128016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3208" y="4169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Robustness &amp; Simplicity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44805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Ensemble of 200 trees is robust to outliers and requires no hyperparameter tuning of layers or learning rates.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7C8C"/>
                </a:solidFill>
              </a:rPr>
              <a:t>LIMITATIONS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Known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5029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8486"/>
            <a:ext cx="4069080" cy="11155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8486"/>
            <a:ext cx="128016" cy="11155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389888"/>
            <a:ext cx="316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Dataset Size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737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Training on 1,205 records limits generalisation. A larger, more diverse dataset would improve robustness.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32888"/>
            <a:ext cx="4069080" cy="11155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32888"/>
            <a:ext cx="128016" cy="11155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6243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No External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971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The model has only been tested on a hold-out portion of the same dataset. External validation on independent populations is needed.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2532888"/>
            <a:ext cx="4069080" cy="11155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2532888"/>
            <a:ext cx="128016" cy="11155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02924" y="2532888"/>
            <a:ext cx="3605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Feature Scope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02924" y="3018992"/>
            <a:ext cx="3605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Several clinically important factors (gravidity, socioeconomic status, genetic risk) are absent from the current feature set.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81728" y="1237435"/>
            <a:ext cx="4069080" cy="11155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72584" y="1238486"/>
            <a:ext cx="128016" cy="11155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2924" y="1237436"/>
            <a:ext cx="3747884" cy="499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Static Predictions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02924" y="1737361"/>
            <a:ext cx="3747884" cy="499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The model makes one-time assessments. It does not track patient vitals over time or adapt to changing conditions.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7C8C"/>
                </a:solidFill>
              </a:rPr>
              <a:t>CONCLUSIONS &amp; FUTURE 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Conclusions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5029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C8C"/>
                </a:solidFill>
              </a:rPr>
              <a:t>Conclusions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069080" cy="3063240"/>
          </a:xfrm>
          <a:prstGeom prst="rect">
            <a:avLst/>
          </a:prstGeom>
          <a:solidFill>
            <a:srgbClr val="E6F4F7"/>
          </a:solidFill>
          <a:ln w="12700">
            <a:solidFill>
              <a:srgbClr val="0D7C8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883664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1051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</a:rPr>
              <a:t>Built a complete ML pipeline from raw data through to an interactive demo (Link: </a:t>
            </a:r>
            <a:r>
              <a:rPr lang="en-US" sz="1050" dirty="0">
                <a:solidFill>
                  <a:srgbClr val="475569"/>
                </a:solidFill>
                <a:hlinkClick r:id="rId3"/>
              </a:rPr>
              <a:t>https://youtu.be/Ca4RTIvey0o</a:t>
            </a:r>
            <a:r>
              <a:rPr lang="en-US" sz="1050" dirty="0">
                <a:solidFill>
                  <a:srgbClr val="475569"/>
                </a:solidFill>
              </a:rPr>
              <a:t>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" y="2432304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915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Random Forest achieved ~85% accuracy — strong for a binary clinical classification task.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2980944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0779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Feature importance confirmed clinically meaningful predictors (blood sugar, age, BP).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3529584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5643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Gradio dashboard makes model output accessible to non-technical users.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" y="4078224"/>
            <a:ext cx="109728" cy="109728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0507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Project demonstrates how data science can support — not replace — clinical decision-making.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129844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1664208"/>
            <a:ext cx="4069080" cy="3063240"/>
          </a:xfrm>
          <a:prstGeom prst="rect">
            <a:avLst/>
          </a:prstGeom>
          <a:solidFill>
            <a:srgbClr val="F0F4F8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73752" y="1883664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81051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Expand dataset with diverse, multi-site populations for better generalisation.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73752" y="2432304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35915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Conduct formal external clinical validation with healthcare partners.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73752" y="2980944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90779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Integrate SHAP values for deeper, per-patient explainability.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73752" y="3529584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45643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</a:rPr>
              <a:t>Explore longitudinal data to track patient risk over time during pregnancy.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ECAE1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926080"/>
            <a:ext cx="8229600" cy="36576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1002</Words>
  <Application>Microsoft Office PowerPoint</Application>
  <PresentationFormat>On-screen Show (16:9)</PresentationFormat>
  <Paragraphs>196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 Risk Prediction</dc:title>
  <dc:subject>PptxGenJS Presentation</dc:subject>
  <dc:creator>PptxGenJS</dc:creator>
  <cp:lastModifiedBy>Mariam Wambui</cp:lastModifiedBy>
  <cp:revision>8</cp:revision>
  <dcterms:created xsi:type="dcterms:W3CDTF">2026-04-30T01:54:26Z</dcterms:created>
  <dcterms:modified xsi:type="dcterms:W3CDTF">2026-04-30T10:23:43Z</dcterms:modified>
</cp:coreProperties>
</file>